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Superstore Sales &amp;</a:t>
            </a:r>
            <a:br/>
            <a: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0"/>
                </a:solidFill>
              </a:defRPr>
            </a:pPr>
            <a:r>
              <a:t>Python • Pandas • Matplotlib/Seaborn •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Turning retail transactions into practical profit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46120" cy="2560320"/>
          </a:xfrm>
          <a:prstGeom prst="roundRect">
            <a:avLst/>
          </a:prstGeom>
          <a:solidFill>
            <a:srgbClr val="F1F6FB"/>
          </a:solidFill>
          <a:ln>
            <a:solidFill>
              <a:srgbClr val="2F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788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40"/>
                </a:solidFill>
              </a:defRPr>
            </a:pPr>
            <a:r>
              <a:t>Objective</a:t>
            </a:r>
          </a:p>
          <a:p>
            <a:pPr>
              <a:spcBef>
                <a:spcPts val="1200"/>
              </a:spcBef>
              <a:defRPr sz="1400">
                <a:solidFill>
                  <a:srgbClr val="505A69"/>
                </a:solidFill>
              </a:defRPr>
            </a:pPr>
            <a:r>
              <a:t>Identify sales drivers, loss risks, and regional opportunities.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3246120" cy="2560320"/>
          </a:xfrm>
          <a:prstGeom prst="roundRect">
            <a:avLst/>
          </a:prstGeom>
          <a:solidFill>
            <a:srgbClr val="F1F6FB"/>
          </a:solidFill>
          <a:ln>
            <a:solidFill>
              <a:srgbClr val="2F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2788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40"/>
                </a:solidFill>
              </a:defRPr>
            </a:pPr>
            <a:r>
              <a:t>Data</a:t>
            </a:r>
          </a:p>
          <a:p>
            <a:pPr>
              <a:spcBef>
                <a:spcPts val="1200"/>
              </a:spcBef>
              <a:defRPr sz="1400">
                <a:solidFill>
                  <a:srgbClr val="505A69"/>
                </a:solidFill>
              </a:defRPr>
            </a:pPr>
            <a:r>
              <a:t>Sample Superstore transactional data: orders, products, customers, discounts, sales and profit.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246120" cy="2560320"/>
          </a:xfrm>
          <a:prstGeom prst="roundRect">
            <a:avLst/>
          </a:prstGeom>
          <a:solidFill>
            <a:srgbClr val="F1F6FB"/>
          </a:solidFill>
          <a:ln>
            <a:solidFill>
              <a:srgbClr val="2F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103120"/>
            <a:ext cx="2788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40"/>
                </a:solidFill>
              </a:defRPr>
            </a:pPr>
            <a:r>
              <a:t>Workflow</a:t>
            </a:r>
          </a:p>
          <a:p>
            <a:pPr>
              <a:spcBef>
                <a:spcPts val="1200"/>
              </a:spcBef>
              <a:defRPr sz="1400">
                <a:solidFill>
                  <a:srgbClr val="505A69"/>
                </a:solidFill>
              </a:defRPr>
            </a:pPr>
            <a:r>
              <a:t>Clean data ? calculate KPIs ? analyze trends ? visualize insights ? write SQL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A69"/>
                </a:solidFill>
              </a:defRPr>
            </a:pPr>
            <a:r>
              <a:t>Superstore Sales Analysis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0"/>
                </a:solidFill>
              </a:defRPr>
            </a:pPr>
            <a:r>
              <a:t>Executive 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Overall performance across the transaction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14600" cy="1828800"/>
          </a:xfrm>
          <a:prstGeom prst="roundRect">
            <a:avLst/>
          </a:prstGeom>
          <a:solidFill>
            <a:srgbClr val="2F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2514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$2.30M</a:t>
            </a:r>
          </a:p>
          <a:p>
            <a:pPr algn="ctr">
              <a:defRPr sz="1300">
                <a:solidFill>
                  <a:srgbClr val="E6F0FA"/>
                </a:solidFill>
              </a:defRPr>
            </a:pPr>
            <a:r>
              <a:t>Total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514600" cy="1828800"/>
          </a:xfrm>
          <a:prstGeom prst="roundRect">
            <a:avLst/>
          </a:prstGeom>
          <a:solidFill>
            <a:srgbClr val="2F7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03120"/>
            <a:ext cx="2514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$286K</a:t>
            </a:r>
          </a:p>
          <a:p>
            <a:pPr algn="ctr">
              <a:defRPr sz="1300">
                <a:solidFill>
                  <a:srgbClr val="E6F0FA"/>
                </a:solidFill>
              </a:defRPr>
            </a:pPr>
            <a:r>
              <a:t>Total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28800"/>
            <a:ext cx="2514600" cy="1828800"/>
          </a:xfrm>
          <a:prstGeom prst="roundRect">
            <a:avLst/>
          </a:prstGeom>
          <a:solidFill>
            <a:srgbClr val="53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2514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12.5%</a:t>
            </a:r>
          </a:p>
          <a:p>
            <a:pPr algn="ctr">
              <a:defRPr sz="1300">
                <a:solidFill>
                  <a:srgbClr val="E6F0FA"/>
                </a:solidFill>
              </a:defRPr>
            </a:pPr>
            <a:r>
              <a:t>Profit Margin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828800"/>
            <a:ext cx="2514600" cy="1828800"/>
          </a:xfrm>
          <a:prstGeom prst="roundRect">
            <a:avLst/>
          </a:prstGeom>
          <a:solidFill>
            <a:srgbClr val="53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03120"/>
            <a:ext cx="2514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5,015</a:t>
            </a:r>
          </a:p>
          <a:p>
            <a:pPr algn="ctr">
              <a:defRPr sz="1300">
                <a:solidFill>
                  <a:srgbClr val="E6F0FA"/>
                </a:solidFill>
              </a:defRPr>
            </a:pPr>
            <a: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A69"/>
                </a:solidFill>
              </a:defRPr>
            </a:pPr>
            <a:r>
              <a:t>Superstore Sales Analysis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0"/>
                </a:solidFill>
              </a:defRPr>
            </a:pPr>
            <a:r>
              <a:t>Category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Sales concentration by product category</a:t>
            </a:r>
          </a:p>
        </p:txBody>
      </p:sp>
      <p:pic>
        <p:nvPicPr>
          <p:cNvPr id="4" name="Picture 3" descr="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452360" cy="429361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920240"/>
            <a:ext cx="310896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2F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219456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340"/>
                </a:solidFill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defRPr sz="1400">
                <a:solidFill>
                  <a:srgbClr val="505A69"/>
                </a:solidFill>
              </a:defRPr>
            </a:pPr>
            <a:r>
              <a:t>Technology is the top category by sales; profitability should be reviewed alongside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A69"/>
                </a:solidFill>
              </a:defRPr>
            </a:pPr>
            <a:r>
              <a:t>Superstore Sales Analysis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0"/>
                </a:solidFill>
              </a:defRPr>
            </a:pPr>
            <a:r>
              <a:t>Sub-Category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Losses are concentrated in a small number of product groups</a:t>
            </a:r>
          </a:p>
        </p:txBody>
      </p:sp>
      <p:pic>
        <p:nvPicPr>
          <p:cNvPr id="4" name="Picture 3" descr="profit_by_sub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452360" cy="40645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920240"/>
            <a:ext cx="310896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2F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219456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340"/>
                </a:solidFill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defRPr sz="1400">
                <a:solidFill>
                  <a:srgbClr val="505A69"/>
                </a:solidFill>
              </a:defRPr>
            </a:pPr>
            <a:r>
              <a:t>Focus discount and assortment review on Tables, Bookcases, Supplies.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A69"/>
                </a:solidFill>
              </a:defRPr>
            </a:pPr>
            <a:r>
              <a:t>Superstore Sales Analysis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0"/>
                </a:solidFill>
              </a:defRPr>
            </a:pPr>
            <a: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Sales and profit vary materially across regions</a:t>
            </a:r>
          </a:p>
        </p:txBody>
      </p:sp>
      <p:pic>
        <p:nvPicPr>
          <p:cNvPr id="4" name="Picture 3" descr="regiona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452360" cy="429361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920240"/>
            <a:ext cx="310896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2F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219456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340"/>
                </a:solidFill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defRPr sz="1400">
                <a:solidFill>
                  <a:srgbClr val="505A69"/>
                </a:solidFill>
              </a:defRPr>
            </a:pPr>
            <a:r>
              <a:t>West leads profit; Central requires a deeper pricing and mix diagnostic.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A69"/>
                </a:solidFill>
              </a:defRPr>
            </a:pPr>
            <a:r>
              <a:t>Superstore Sales Analysis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0"/>
                </a:solidFill>
              </a:defRPr>
            </a:pPr>
            <a:r>
              <a:t>Sales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Monthly performance helps identify seasonality and growth patterns</a:t>
            </a:r>
          </a:p>
        </p:txBody>
      </p:sp>
      <p:pic>
        <p:nvPicPr>
          <p:cNvPr id="4" name="Picture 3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452360" cy="38226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920240"/>
            <a:ext cx="3108960" cy="2011680"/>
          </a:xfrm>
          <a:prstGeom prst="roundRect">
            <a:avLst/>
          </a:prstGeom>
          <a:solidFill>
            <a:srgbClr val="F1F6FB"/>
          </a:solidFill>
          <a:ln>
            <a:solidFill>
              <a:srgbClr val="2F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219456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340"/>
                </a:solidFill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defRPr sz="1400">
                <a:solidFill>
                  <a:srgbClr val="505A69"/>
                </a:solidFill>
              </a:defRPr>
            </a:pPr>
            <a:r>
              <a:t>Use this trend view to plan inventory, promotions, and sales targets.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A69"/>
                </a:solidFill>
              </a:defRPr>
            </a:pPr>
            <a:r>
              <a:t>Superstore Sales Analysis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0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Actions supported by the analysis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5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26464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5331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2340"/>
                </a:solidFill>
              </a:defRPr>
            </a:pPr>
            <a:r>
              <a:t>Set discount guardrails for loss-making sub-categories.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E5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569464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9631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2340"/>
                </a:solidFill>
              </a:defRPr>
            </a:pPr>
            <a:r>
              <a:t>Investigate the weakest-profit region by product, customer segment, and discount level.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E5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712464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3931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2340"/>
                </a:solidFill>
              </a:defRPr>
            </a:pPr>
            <a:r>
              <a:t>Prioritize higher-margin products in campaign and inventory planning.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E58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855464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78231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2340"/>
                </a:solidFill>
              </a:defRPr>
            </a:pPr>
            <a:r>
              <a:t>Monitor sales and profit together through recurring KPI reporting.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05A69"/>
                </a:solidFill>
              </a:defRPr>
            </a:pPr>
            <a:r>
              <a:t>Superstore Sales Analysis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