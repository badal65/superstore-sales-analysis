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Superstore Sales &amp;</a:t>
            </a:r>
            <a:br/>
            <a:r>
              <a:t>Profitability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0"/>
                </a:solidFill>
              </a:defRPr>
            </a:pPr>
            <a:r>
              <a:t>Python • Pandas • Matplotlib/Seaborn • SQL</a:t>
            </a:r>
          </a:p>
          <a:p>
            <a:pPr algn="l"/>
            <a:r>
              <a:rPr lang="en-US" sz="1450" b="1">
                <a:solidFill>
                  <a:srgbClr val="C8DCF0"/>
                </a:solidFill>
                <a:latin typeface="Aptos Display"/>
              </a:rPr>
              <a:t>Prepared by: BADAL CHAUDHARY  |  Student ID: STU6a30b8115dd5c1781577745</a:t>
            </a:r>
            <a:endParaRPr lang="en-US" sz="14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2340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05A69"/>
                </a:solidFill>
              </a:defRPr>
            </a:pPr>
            <a:r>
              <a:t>Turning retail transactions into practical profit recommendations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246120" cy="2560320"/>
          </a:xfrm>
          <a:prstGeom prst="roundRect">
            <a:avLst/>
          </a:prstGeom>
          <a:solidFill>
            <a:srgbClr val="F1F6FB"/>
          </a:solidFill>
          <a:ln>
            <a:solidFill>
              <a:srgbClr val="2F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03120"/>
            <a:ext cx="2788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2340"/>
                </a:solidFill>
              </a:defRPr>
            </a:pPr>
            <a:r>
              <a:t>Objective</a:t>
            </a:r>
          </a:p>
          <a:p>
            <a:pPr>
              <a:spcBef>
                <a:spcPts val="1200"/>
              </a:spcBef>
              <a:defRPr sz="1400">
                <a:solidFill>
                  <a:srgbClr val="505A69"/>
                </a:solidFill>
              </a:defRPr>
            </a:pPr>
            <a:r>
              <a:t>Identify sales drivers, loss risks, and regional opportunities.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828800"/>
            <a:ext cx="3246120" cy="2560320"/>
          </a:xfrm>
          <a:prstGeom prst="roundRect">
            <a:avLst/>
          </a:prstGeom>
          <a:solidFill>
            <a:srgbClr val="F1F6FB"/>
          </a:solidFill>
          <a:ln>
            <a:solidFill>
              <a:srgbClr val="2F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2103120"/>
            <a:ext cx="2788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2340"/>
                </a:solidFill>
              </a:defRPr>
            </a:pPr>
            <a:r>
              <a:t>Data</a:t>
            </a:r>
          </a:p>
          <a:p>
            <a:pPr>
              <a:spcBef>
                <a:spcPts val="1200"/>
              </a:spcBef>
              <a:defRPr sz="1400">
                <a:solidFill>
                  <a:srgbClr val="505A69"/>
                </a:solidFill>
              </a:defRPr>
            </a:pPr>
            <a:r>
              <a:t>Sample Superstore transactional data: orders, products, customers, discounts, sales and profit.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828800"/>
            <a:ext cx="3246120" cy="2560320"/>
          </a:xfrm>
          <a:prstGeom prst="roundRect">
            <a:avLst/>
          </a:prstGeom>
          <a:solidFill>
            <a:srgbClr val="F1F6FB"/>
          </a:solidFill>
          <a:ln>
            <a:solidFill>
              <a:srgbClr val="2F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2103120"/>
            <a:ext cx="2788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2340"/>
                </a:solidFill>
              </a:defRPr>
            </a:pPr>
            <a:r>
              <a:t>Workflow</a:t>
            </a:r>
          </a:p>
          <a:p>
            <a:pPr>
              <a:spcBef>
                <a:spcPts val="1200"/>
              </a:spcBef>
              <a:defRPr sz="1400">
                <a:solidFill>
                  <a:srgbClr val="505A69"/>
                </a:solidFill>
              </a:defRPr>
            </a:pPr>
            <a:r>
              <a:t>Clean data ? calculate KPIs ? analyze trends ? visualize insights ? write SQL queries.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10972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05A69"/>
                </a:solidFill>
              </a:defRPr>
            </a:pPr>
            <a:r>
              <a:t>Superstore Sales Analysis  |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2340"/>
                </a:solidFill>
              </a:defRPr>
            </a:pPr>
            <a:r>
              <a:t>Executive KPI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05A69"/>
                </a:solidFill>
              </a:defRPr>
            </a:pPr>
            <a:r>
              <a:t>Overall performance across the transaction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8800"/>
            <a:ext cx="2514600" cy="1828800"/>
          </a:xfrm>
          <a:prstGeom prst="roundRect">
            <a:avLst/>
          </a:prstGeom>
          <a:solidFill>
            <a:srgbClr val="2F7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2514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$2.30M</a:t>
            </a:r>
          </a:p>
          <a:p>
            <a:pPr algn="ctr">
              <a:defRPr sz="1300">
                <a:solidFill>
                  <a:srgbClr val="E6F0FA"/>
                </a:solidFill>
              </a:defRPr>
            </a:pPr>
            <a:r>
              <a:t>Total Sales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828800"/>
            <a:ext cx="2514600" cy="1828800"/>
          </a:xfrm>
          <a:prstGeom prst="roundRect">
            <a:avLst/>
          </a:prstGeom>
          <a:solidFill>
            <a:srgbClr val="2F7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2103120"/>
            <a:ext cx="2514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$286K</a:t>
            </a:r>
          </a:p>
          <a:p>
            <a:pPr algn="ctr">
              <a:defRPr sz="1300">
                <a:solidFill>
                  <a:srgbClr val="E6F0FA"/>
                </a:solidFill>
              </a:defRPr>
            </a:pPr>
            <a:r>
              <a:t>Total Profit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828800"/>
            <a:ext cx="2514600" cy="1828800"/>
          </a:xfrm>
          <a:prstGeom prst="roundRect">
            <a:avLst/>
          </a:prstGeom>
          <a:solidFill>
            <a:srgbClr val="53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103120"/>
            <a:ext cx="2514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12.5%</a:t>
            </a:r>
          </a:p>
          <a:p>
            <a:pPr algn="ctr">
              <a:defRPr sz="1300">
                <a:solidFill>
                  <a:srgbClr val="E6F0FA"/>
                </a:solidFill>
              </a:defRPr>
            </a:pPr>
            <a:r>
              <a:t>Profit Margin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1828800"/>
            <a:ext cx="2514600" cy="1828800"/>
          </a:xfrm>
          <a:prstGeom prst="roundRect">
            <a:avLst/>
          </a:prstGeom>
          <a:solidFill>
            <a:srgbClr val="53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2103120"/>
            <a:ext cx="2514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5,015</a:t>
            </a:r>
          </a:p>
          <a:p>
            <a:pPr algn="ctr">
              <a:defRPr sz="1300">
                <a:solidFill>
                  <a:srgbClr val="E6F0FA"/>
                </a:solidFill>
              </a:defRPr>
            </a:pPr>
            <a:r>
              <a:t>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37960"/>
            <a:ext cx="10972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05A69"/>
                </a:solidFill>
              </a:defRPr>
            </a:pPr>
            <a:r>
              <a:t>Superstore Sales Analysis  |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2340"/>
                </a:solidFill>
              </a:defRPr>
            </a:pPr>
            <a:r>
              <a:t>Category Sales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05A69"/>
                </a:solidFill>
              </a:defRPr>
            </a:pPr>
            <a:r>
              <a:t>Sales concentration by product category</a:t>
            </a:r>
          </a:p>
        </p:txBody>
      </p:sp>
      <p:pic>
        <p:nvPicPr>
          <p:cNvPr id="4" name="Picture 3" descr="sales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452360" cy="429361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412480" y="1920240"/>
            <a:ext cx="3108960" cy="2011680"/>
          </a:xfrm>
          <a:prstGeom prst="roundRect">
            <a:avLst/>
          </a:prstGeom>
          <a:solidFill>
            <a:srgbClr val="F1F6FB"/>
          </a:solidFill>
          <a:ln>
            <a:solidFill>
              <a:srgbClr val="2F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2194560"/>
            <a:ext cx="2560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2340"/>
                </a:solidFill>
              </a:defRPr>
            </a:pPr>
            <a:r>
              <a:t>Key takeaway</a:t>
            </a:r>
          </a:p>
          <a:p>
            <a:pPr>
              <a:spcBef>
                <a:spcPts val="1200"/>
              </a:spcBef>
              <a:defRPr sz="1400">
                <a:solidFill>
                  <a:srgbClr val="505A69"/>
                </a:solidFill>
              </a:defRPr>
            </a:pPr>
            <a:r>
              <a:t>Technology is the top category by sales; profitability should be reviewed alongside revenue.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10972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05A69"/>
                </a:solidFill>
              </a:defRPr>
            </a:pPr>
            <a:r>
              <a:t>Superstore Sales Analysis  |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2340"/>
                </a:solidFill>
              </a:defRPr>
            </a:pPr>
            <a:r>
              <a:t>Sub-Category Profitability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05A69"/>
                </a:solidFill>
              </a:defRPr>
            </a:pPr>
            <a:r>
              <a:t>Losses are concentrated in a small number of product groups</a:t>
            </a:r>
          </a:p>
        </p:txBody>
      </p:sp>
      <p:pic>
        <p:nvPicPr>
          <p:cNvPr id="4" name="Picture 3" descr="profit_by_sub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452360" cy="406454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412480" y="1920240"/>
            <a:ext cx="3108960" cy="2011680"/>
          </a:xfrm>
          <a:prstGeom prst="roundRect">
            <a:avLst/>
          </a:prstGeom>
          <a:solidFill>
            <a:srgbClr val="F1F6FB"/>
          </a:solidFill>
          <a:ln>
            <a:solidFill>
              <a:srgbClr val="2F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2194560"/>
            <a:ext cx="2560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2340"/>
                </a:solidFill>
              </a:defRPr>
            </a:pPr>
            <a:r>
              <a:t>Key takeaway</a:t>
            </a:r>
          </a:p>
          <a:p>
            <a:pPr>
              <a:spcBef>
                <a:spcPts val="1200"/>
              </a:spcBef>
              <a:defRPr sz="1400">
                <a:solidFill>
                  <a:srgbClr val="505A69"/>
                </a:solidFill>
              </a:defRPr>
            </a:pPr>
            <a:r>
              <a:t>Focus discount and assortment review on Tables, Bookcases, Supplies.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10972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05A69"/>
                </a:solidFill>
              </a:defRPr>
            </a:pPr>
            <a:r>
              <a:t>Superstore Sales Analysis  |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2340"/>
                </a:solidFill>
              </a:defRPr>
            </a:pPr>
            <a:r>
              <a:t>Regional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05A69"/>
                </a:solidFill>
              </a:defRPr>
            </a:pPr>
            <a:r>
              <a:t>Sales and profit vary materially across regions</a:t>
            </a:r>
          </a:p>
        </p:txBody>
      </p:sp>
      <p:pic>
        <p:nvPicPr>
          <p:cNvPr id="4" name="Picture 3" descr="regional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452360" cy="429361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412480" y="1920240"/>
            <a:ext cx="3108960" cy="2011680"/>
          </a:xfrm>
          <a:prstGeom prst="roundRect">
            <a:avLst/>
          </a:prstGeom>
          <a:solidFill>
            <a:srgbClr val="F1F6FB"/>
          </a:solidFill>
          <a:ln>
            <a:solidFill>
              <a:srgbClr val="2F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2194560"/>
            <a:ext cx="2560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2340"/>
                </a:solidFill>
              </a:defRPr>
            </a:pPr>
            <a:r>
              <a:t>Key takeaway</a:t>
            </a:r>
          </a:p>
          <a:p>
            <a:pPr>
              <a:spcBef>
                <a:spcPts val="1200"/>
              </a:spcBef>
              <a:defRPr sz="1400">
                <a:solidFill>
                  <a:srgbClr val="505A69"/>
                </a:solidFill>
              </a:defRPr>
            </a:pPr>
            <a:r>
              <a:t>West leads profit; Central requires a deeper pricing and mix diagnostic.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10972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05A69"/>
                </a:solidFill>
              </a:defRPr>
            </a:pPr>
            <a:r>
              <a:t>Superstore Sales Analysis  |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2340"/>
                </a:solidFill>
              </a:defRPr>
            </a:pPr>
            <a:r>
              <a:t>Sales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05A69"/>
                </a:solidFill>
              </a:defRPr>
            </a:pPr>
            <a:r>
              <a:t>Monthly performance helps identify seasonality and growth patterns</a:t>
            </a:r>
          </a:p>
        </p:txBody>
      </p:sp>
      <p:pic>
        <p:nvPicPr>
          <p:cNvPr id="4" name="Picture 3" descr="monthly_sales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452360" cy="382269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412480" y="1920240"/>
            <a:ext cx="3108960" cy="2011680"/>
          </a:xfrm>
          <a:prstGeom prst="roundRect">
            <a:avLst/>
          </a:prstGeom>
          <a:solidFill>
            <a:srgbClr val="F1F6FB"/>
          </a:solidFill>
          <a:ln>
            <a:solidFill>
              <a:srgbClr val="2F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2194560"/>
            <a:ext cx="2560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2340"/>
                </a:solidFill>
              </a:defRPr>
            </a:pPr>
            <a:r>
              <a:t>Key takeaway</a:t>
            </a:r>
          </a:p>
          <a:p>
            <a:pPr>
              <a:spcBef>
                <a:spcPts val="1200"/>
              </a:spcBef>
              <a:defRPr sz="1400">
                <a:solidFill>
                  <a:srgbClr val="505A69"/>
                </a:solidFill>
              </a:defRPr>
            </a:pPr>
            <a:r>
              <a:t>Use this trend view to plan inventory, promotions, and sales targets.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10972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05A69"/>
                </a:solidFill>
              </a:defRPr>
            </a:pPr>
            <a:r>
              <a:t>Superstore Sales Analysis  |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2340"/>
                </a:solidFill>
              </a:defRPr>
            </a:pPr>
            <a: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05A69"/>
                </a:solidFill>
              </a:defRPr>
            </a:pPr>
            <a:r>
              <a:t>Actions supported by the analysis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E582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26464"/>
            <a:ext cx="18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53312"/>
            <a:ext cx="9875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0F2340"/>
                </a:solidFill>
              </a:defRPr>
            </a:pPr>
            <a:r>
              <a:t>Set discount guardrails for loss-making sub-categories.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514600"/>
            <a:ext cx="457200" cy="457200"/>
          </a:xfrm>
          <a:prstGeom prst="ellipse">
            <a:avLst/>
          </a:prstGeom>
          <a:solidFill>
            <a:srgbClr val="E582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569464"/>
            <a:ext cx="18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496312"/>
            <a:ext cx="9875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0F2340"/>
                </a:solidFill>
              </a:defRPr>
            </a:pPr>
            <a:r>
              <a:t>Investigate the weakest-profit region by product, customer segment, and discount level.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E582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3712464"/>
            <a:ext cx="18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39312"/>
            <a:ext cx="9875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0F2340"/>
                </a:solidFill>
              </a:defRPr>
            </a:pPr>
            <a:r>
              <a:t>Prioritize higher-margin products in campaign and inventory planning.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800600"/>
            <a:ext cx="457200" cy="457200"/>
          </a:xfrm>
          <a:prstGeom prst="ellipse">
            <a:avLst/>
          </a:prstGeom>
          <a:solidFill>
            <a:srgbClr val="E582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855464"/>
            <a:ext cx="18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782312"/>
            <a:ext cx="9875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0F2340"/>
                </a:solidFill>
              </a:defRPr>
            </a:pPr>
            <a:r>
              <a:t>Monitor sales and profit together through recurring KPI reporting.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37960"/>
            <a:ext cx="10972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05A69"/>
                </a:solidFill>
              </a:defRPr>
            </a:pPr>
            <a:r>
              <a:t>Superstore Sales Analysis  |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